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17"/>
  </p:notesMasterIdLst>
  <p:handoutMasterIdLst>
    <p:handoutMasterId r:id="rId18"/>
  </p:handoutMasterIdLst>
  <p:sldIdLst>
    <p:sldId id="312" r:id="rId5"/>
    <p:sldId id="304" r:id="rId6"/>
    <p:sldId id="307" r:id="rId7"/>
    <p:sldId id="281" r:id="rId8"/>
    <p:sldId id="282" r:id="rId9"/>
    <p:sldId id="314" r:id="rId10"/>
    <p:sldId id="315" r:id="rId11"/>
    <p:sldId id="317" r:id="rId12"/>
    <p:sldId id="318" r:id="rId13"/>
    <p:sldId id="319" r:id="rId14"/>
    <p:sldId id="321" r:id="rId15"/>
    <p:sldId id="297" r:id="rId16"/>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2C8F"/>
    <a:srgbClr val="FDFBF6"/>
    <a:srgbClr val="AAC4E9"/>
    <a:srgbClr val="F5CDCE"/>
    <a:srgbClr val="DF8C8C"/>
    <a:srgbClr val="D4D593"/>
    <a:srgbClr val="E6F0FE"/>
    <a:srgbClr val="CDBE8A"/>
    <a:srgbClr val="FFEFEF"/>
    <a:srgbClr val="FCFBF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388" autoAdjust="0"/>
  </p:normalViewPr>
  <p:slideViewPr>
    <p:cSldViewPr snapToGrid="0" snapToObjects="1">
      <p:cViewPr varScale="1">
        <p:scale>
          <a:sx n="48" d="100"/>
          <a:sy n="48" d="100"/>
        </p:scale>
        <p:origin x="67" y="566"/>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snapToObjects="1">
      <p:cViewPr varScale="1">
        <p:scale>
          <a:sx n="25" d="100"/>
          <a:sy n="25" d="100"/>
        </p:scale>
        <p:origin x="3480" y="7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8/10/relationships/authors" Target="authors.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2026</a:t>
            </a:fld>
            <a:endParaRPr lang="en-US" dirty="0"/>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dirty="0"/>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5877361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2949312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686530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0193977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876670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6497422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1779146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8454170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41101387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30476683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dirty="0"/>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dirty="0"/>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dirty="0"/>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dirty="0"/>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dirty="0"/>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dirty="0"/>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dirty="0"/>
              <a:t>Click to add text</a:t>
            </a:r>
          </a:p>
          <a:p>
            <a:pPr lvl="1"/>
            <a:r>
              <a:rPr lang="en-US" dirty="0"/>
              <a:t>Second level</a:t>
            </a:r>
          </a:p>
          <a:p>
            <a:pPr lvl="2"/>
            <a:r>
              <a:rPr lang="en-US" dirty="0"/>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dirty="0"/>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dirty="0"/>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dirty="0"/>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dirty="0"/>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dirty="0"/>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dirty="0"/>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dirty="0"/>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dirty="0"/>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dirty="0"/>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dirty="0"/>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dirty="0"/>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dirty="0"/>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dirty="0"/>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dirty="0"/>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dirty="0"/>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dirty="0"/>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dirty="0"/>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dirty="0"/>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dirty="0"/>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dirty="0"/>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endParaRPr lang="en-US" dirty="0"/>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dirty="0"/>
              <a:t>Click to add text</a:t>
            </a:r>
          </a:p>
          <a:p>
            <a:pPr lvl="1"/>
            <a:r>
              <a:rPr lang="en-US" dirty="0"/>
              <a:t>Second level</a:t>
            </a:r>
          </a:p>
          <a:p>
            <a:pPr lvl="2"/>
            <a:r>
              <a:rPr lang="en-US" dirty="0"/>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endParaRPr lang="en-US" dirty="0"/>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dirty="0"/>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dirty="0">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dirty="0"/>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dirty="0"/>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dirty="0"/>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dirty="0"/>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dirty="0"/>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dirty="0"/>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dirty="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dirty="0"/>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dirty="0"/>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dirty="0"/>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p:txBody>
          <a:bodyPr anchor="ctr" anchorCtr="0"/>
          <a:lstStyle/>
          <a:p>
            <a:r>
              <a:rPr lang="en-US" dirty="0"/>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dirty="0">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dirty="0"/>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dirty="0"/>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dirty="0"/>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899789" y="576311"/>
            <a:ext cx="6392421" cy="3722973"/>
          </a:xfrm>
        </p:spPr>
        <p:txBody>
          <a:bodyPr anchor="ctr"/>
          <a:lstStyle/>
          <a:p>
            <a:r>
              <a:rPr lang="en-US" dirty="0"/>
              <a:t>Clinical trial patient matching </a:t>
            </a:r>
          </a:p>
        </p:txBody>
      </p:sp>
    </p:spTree>
    <p:extLst>
      <p:ext uri="{BB962C8B-B14F-4D97-AF65-F5344CB8AC3E}">
        <p14:creationId xmlns:p14="http://schemas.microsoft.com/office/powerpoint/2010/main" val="2202437675"/>
      </p:ext>
    </p:extLst>
  </p:cSld>
  <p:clrMapOvr>
    <a:masterClrMapping/>
  </p:clrMapOvr>
  <p:transition spd="slow">
    <p:randomBar dir="ver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021072-4A77-DB4D-DF41-58EADB7DA94E}"/>
              </a:ext>
            </a:extLst>
          </p:cNvPr>
          <p:cNvSpPr>
            <a:spLocks noGrp="1"/>
          </p:cNvSpPr>
          <p:nvPr>
            <p:ph type="title"/>
          </p:nvPr>
        </p:nvSpPr>
        <p:spPr>
          <a:xfrm>
            <a:off x="914400" y="176464"/>
            <a:ext cx="6583680" cy="45719"/>
          </a:xfrm>
        </p:spPr>
        <p:txBody>
          <a:bodyPr/>
          <a:lstStyle/>
          <a:p>
            <a:r>
              <a:rPr lang="en-US" dirty="0"/>
              <a:t>  </a:t>
            </a:r>
            <a:br>
              <a:rPr lang="en-US" dirty="0"/>
            </a:br>
            <a:endParaRPr lang="en-US" dirty="0"/>
          </a:p>
        </p:txBody>
      </p:sp>
      <p:sp>
        <p:nvSpPr>
          <p:cNvPr id="3" name="Content Placeholder 2">
            <a:extLst>
              <a:ext uri="{FF2B5EF4-FFF2-40B4-BE49-F238E27FC236}">
                <a16:creationId xmlns:a16="http://schemas.microsoft.com/office/drawing/2014/main" id="{D4D22962-3C7F-E480-5C35-7F4860A098E1}"/>
              </a:ext>
            </a:extLst>
          </p:cNvPr>
          <p:cNvSpPr>
            <a:spLocks noGrp="1"/>
          </p:cNvSpPr>
          <p:nvPr>
            <p:ph idx="1"/>
          </p:nvPr>
        </p:nvSpPr>
        <p:spPr>
          <a:xfrm>
            <a:off x="914400" y="802105"/>
            <a:ext cx="6583680" cy="5239879"/>
          </a:xfrm>
        </p:spPr>
        <p:txBody>
          <a:bodyPr>
            <a:normAutofit fontScale="92500" lnSpcReduction="10000"/>
          </a:bodyPr>
          <a:lstStyle/>
          <a:p>
            <a:r>
              <a:rPr lang="en-US" sz="3200" dirty="0"/>
              <a:t>DOMAIN: HT-12</a:t>
            </a:r>
          </a:p>
          <a:p>
            <a:r>
              <a:rPr lang="en-US" sz="3200" dirty="0"/>
              <a:t>Team Name: Med Tech Minds</a:t>
            </a:r>
          </a:p>
          <a:p>
            <a:r>
              <a:rPr lang="en-US" sz="3200" dirty="0"/>
              <a:t>Members: K. Harshith- 2503A52594</a:t>
            </a:r>
          </a:p>
          <a:p>
            <a:r>
              <a:rPr lang="en-US" sz="3200" dirty="0"/>
              <a:t>                  G. Hasini- 2503A52593</a:t>
            </a:r>
          </a:p>
          <a:p>
            <a:r>
              <a:rPr lang="en-US" sz="3200" dirty="0"/>
              <a:t>                  B. Varshini- 2503A52487</a:t>
            </a:r>
          </a:p>
          <a:p>
            <a:r>
              <a:rPr lang="en-US" sz="3200" dirty="0"/>
              <a:t>                  K. Brahmini- 2503A52570</a:t>
            </a:r>
          </a:p>
          <a:p>
            <a:r>
              <a:rPr lang="en-US" sz="3200" dirty="0"/>
              <a:t>Department: CSE(AIML)</a:t>
            </a:r>
          </a:p>
          <a:p>
            <a:r>
              <a:rPr lang="en-US" sz="3200" dirty="0"/>
              <a:t>Udbhava X’26</a:t>
            </a:r>
          </a:p>
        </p:txBody>
      </p:sp>
      <p:sp>
        <p:nvSpPr>
          <p:cNvPr id="4" name="Slide Number Placeholder 3">
            <a:extLst>
              <a:ext uri="{FF2B5EF4-FFF2-40B4-BE49-F238E27FC236}">
                <a16:creationId xmlns:a16="http://schemas.microsoft.com/office/drawing/2014/main" id="{18D5CFA2-4E67-F157-5FFD-A246307D41F7}"/>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2</a:t>
            </a:fld>
            <a:endParaRPr lang="en-US" dirty="0"/>
          </a:p>
        </p:txBody>
      </p:sp>
    </p:spTree>
    <p:extLst>
      <p:ext uri="{BB962C8B-B14F-4D97-AF65-F5344CB8AC3E}">
        <p14:creationId xmlns:p14="http://schemas.microsoft.com/office/powerpoint/2010/main" val="39132197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EDA75-0988-2AC2-87F8-8DEC83A7B9CA}"/>
              </a:ext>
            </a:extLst>
          </p:cNvPr>
          <p:cNvSpPr>
            <a:spLocks noGrp="1"/>
          </p:cNvSpPr>
          <p:nvPr>
            <p:ph type="title"/>
          </p:nvPr>
        </p:nvSpPr>
        <p:spPr>
          <a:xfrm>
            <a:off x="577516" y="352926"/>
            <a:ext cx="9946105" cy="1203158"/>
          </a:xfrm>
        </p:spPr>
        <p:txBody>
          <a:bodyPr/>
          <a:lstStyle/>
          <a:p>
            <a:r>
              <a:rPr lang="en-US" dirty="0"/>
              <a:t>Problem scenario</a:t>
            </a:r>
          </a:p>
        </p:txBody>
      </p:sp>
      <p:sp>
        <p:nvSpPr>
          <p:cNvPr id="3" name="TextBox 2">
            <a:extLst>
              <a:ext uri="{FF2B5EF4-FFF2-40B4-BE49-F238E27FC236}">
                <a16:creationId xmlns:a16="http://schemas.microsoft.com/office/drawing/2014/main" id="{37D2501E-F482-1971-C366-3C1A01C262B3}"/>
              </a:ext>
            </a:extLst>
          </p:cNvPr>
          <p:cNvSpPr txBox="1"/>
          <p:nvPr/>
        </p:nvSpPr>
        <p:spPr>
          <a:xfrm>
            <a:off x="753980" y="2438400"/>
            <a:ext cx="10443410" cy="2246769"/>
          </a:xfrm>
          <a:prstGeom prst="rect">
            <a:avLst/>
          </a:prstGeom>
          <a:noFill/>
        </p:spPr>
        <p:txBody>
          <a:bodyPr wrap="square" rtlCol="0">
            <a:spAutoFit/>
          </a:bodyPr>
          <a:lstStyle/>
          <a:p>
            <a:r>
              <a:rPr lang="en-US" sz="2800" dirty="0"/>
              <a:t>Clinical trials struggle to recruit eligible patients efficiently. Researchers rely on manual database searches and outreach Patients are often unaware of nearby relevant trials. Trial eligibility involves complex inclusion/exclusion criteria. Leads to delays in drug development and increased costs</a:t>
            </a:r>
            <a:endParaRPr lang="en-IN" sz="2800" dirty="0"/>
          </a:p>
        </p:txBody>
      </p:sp>
    </p:spTree>
    <p:extLst>
      <p:ext uri="{BB962C8B-B14F-4D97-AF65-F5344CB8AC3E}">
        <p14:creationId xmlns:p14="http://schemas.microsoft.com/office/powerpoint/2010/main" val="29064919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B219B-7E3A-7E84-6386-37313F0CFB09}"/>
              </a:ext>
            </a:extLst>
          </p:cNvPr>
          <p:cNvSpPr>
            <a:spLocks noGrp="1"/>
          </p:cNvSpPr>
          <p:nvPr>
            <p:ph type="title"/>
          </p:nvPr>
        </p:nvSpPr>
        <p:spPr>
          <a:xfrm>
            <a:off x="914400" y="641685"/>
            <a:ext cx="10651958" cy="1171074"/>
          </a:xfrm>
        </p:spPr>
        <p:txBody>
          <a:bodyPr/>
          <a:lstStyle/>
          <a:p>
            <a:r>
              <a:rPr lang="en-US" dirty="0"/>
              <a:t>Current pain points</a:t>
            </a:r>
          </a:p>
        </p:txBody>
      </p:sp>
      <p:sp>
        <p:nvSpPr>
          <p:cNvPr id="3" name="Text Placeholder 2">
            <a:extLst>
              <a:ext uri="{FF2B5EF4-FFF2-40B4-BE49-F238E27FC236}">
                <a16:creationId xmlns:a16="http://schemas.microsoft.com/office/drawing/2014/main" id="{A2E339BF-E6D7-DD0E-AF02-6813852EE723}"/>
              </a:ext>
            </a:extLst>
          </p:cNvPr>
          <p:cNvSpPr>
            <a:spLocks noGrp="1"/>
          </p:cNvSpPr>
          <p:nvPr>
            <p:ph idx="1"/>
          </p:nvPr>
        </p:nvSpPr>
        <p:spPr>
          <a:xfrm>
            <a:off x="914400" y="2245896"/>
            <a:ext cx="10651958" cy="3796088"/>
          </a:xfrm>
        </p:spPr>
        <p:txBody>
          <a:bodyPr>
            <a:normAutofit/>
          </a:bodyPr>
          <a:lstStyle/>
          <a:p>
            <a:r>
              <a:rPr lang="en-US" sz="2800" dirty="0"/>
              <a:t>⏳ Slow, manual patient screening process</a:t>
            </a:r>
          </a:p>
          <a:p>
            <a:r>
              <a:rPr lang="en-US" sz="2800" dirty="0"/>
              <a:t>❌ High risk of human error and bias in matching</a:t>
            </a:r>
          </a:p>
          <a:p>
            <a:r>
              <a:rPr lang="en-US" sz="2800" dirty="0"/>
              <a:t>🔍 Difficulty handling complex criteria (age, genetics, history)</a:t>
            </a:r>
          </a:p>
          <a:p>
            <a:r>
              <a:rPr lang="en-US" sz="2800" dirty="0"/>
              <a:t>🔒 Privacy concerns when sharing patient data</a:t>
            </a:r>
          </a:p>
          <a:p>
            <a:r>
              <a:rPr lang="en-US" sz="2800" dirty="0"/>
              <a:t>📉 Low patient awareness and engagement</a:t>
            </a:r>
          </a:p>
          <a:p>
            <a:r>
              <a:rPr lang="en-US" sz="2800" dirty="0"/>
              <a:t>🏥 Data silos across hospitals (no unified system)</a:t>
            </a:r>
          </a:p>
          <a:p>
            <a:r>
              <a:rPr lang="en-US" sz="2800" dirty="0"/>
              <a:t>📊 Incomplete patient records affecting decisions</a:t>
            </a:r>
          </a:p>
        </p:txBody>
      </p:sp>
    </p:spTree>
    <p:extLst>
      <p:ext uri="{BB962C8B-B14F-4D97-AF65-F5344CB8AC3E}">
        <p14:creationId xmlns:p14="http://schemas.microsoft.com/office/powerpoint/2010/main" val="29529238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3460565" y="1057274"/>
            <a:ext cx="7965461" cy="994164"/>
          </a:xfrm>
        </p:spPr>
        <p:txBody>
          <a:bodyPr/>
          <a:lstStyle/>
          <a:p>
            <a:r>
              <a:rPr lang="en-US" dirty="0"/>
              <a:t>Objectives &amp;success</a:t>
            </a:r>
          </a:p>
        </p:txBody>
      </p:sp>
      <p:sp>
        <p:nvSpPr>
          <p:cNvPr id="3" name="Content Placeholder 2">
            <a:extLst>
              <a:ext uri="{FF2B5EF4-FFF2-40B4-BE49-F238E27FC236}">
                <a16:creationId xmlns:a16="http://schemas.microsoft.com/office/drawing/2014/main" id="{75111C33-898C-4414-4665-5136EB6FC126}"/>
              </a:ext>
            </a:extLst>
          </p:cNvPr>
          <p:cNvSpPr>
            <a:spLocks noGrp="1"/>
          </p:cNvSpPr>
          <p:nvPr>
            <p:ph sz="half" idx="2"/>
          </p:nvPr>
        </p:nvSpPr>
        <p:spPr>
          <a:xfrm>
            <a:off x="3460565" y="2303029"/>
            <a:ext cx="7965460" cy="3497698"/>
          </a:xfrm>
        </p:spPr>
        <p:txBody>
          <a:bodyPr>
            <a:normAutofit/>
          </a:bodyPr>
          <a:lstStyle/>
          <a:p>
            <a:r>
              <a:rPr lang="en-US" sz="2000" dirty="0"/>
              <a:t>Objective: </a:t>
            </a:r>
          </a:p>
          <a:p>
            <a:pPr marL="0" indent="0">
              <a:buNone/>
            </a:pPr>
            <a:r>
              <a:rPr lang="en-US" sz="2000" dirty="0"/>
              <a:t>            Build a Clinical Trial Matching Engine to automate patient-trial                        matching with privacy protection</a:t>
            </a:r>
          </a:p>
          <a:p>
            <a:r>
              <a:rPr lang="en-US" sz="2000" dirty="0"/>
              <a:t>Success Criteria:</a:t>
            </a:r>
          </a:p>
          <a:p>
            <a:pPr marL="0" indent="0">
              <a:buNone/>
            </a:pPr>
            <a:r>
              <a:rPr lang="en-US" sz="2000" dirty="0"/>
              <a:t>            ✅ Accurate matching based on eligibility rules🔐 Strong data    anonymization before consent⚡ Faster recruitment time📈 Increased trial participation rate👤 Improved patient awareness and engagement</a:t>
            </a:r>
          </a:p>
        </p:txBody>
      </p:sp>
      <p:sp>
        <p:nvSpPr>
          <p:cNvPr id="23" name="Slide Number Placeholder 22">
            <a:extLst>
              <a:ext uri="{FF2B5EF4-FFF2-40B4-BE49-F238E27FC236}">
                <a16:creationId xmlns:a16="http://schemas.microsoft.com/office/drawing/2014/main" id="{94FF72B7-0438-3641-5939-75128934B0DF}"/>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5</a:t>
            </a:fld>
            <a:endParaRPr lang="en-US" dirty="0"/>
          </a:p>
        </p:txBody>
      </p:sp>
    </p:spTree>
    <p:extLst>
      <p:ext uri="{BB962C8B-B14F-4D97-AF65-F5344CB8AC3E}">
        <p14:creationId xmlns:p14="http://schemas.microsoft.com/office/powerpoint/2010/main" val="6856810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10199-C129-11F0-56F2-2D1AED21CB4C}"/>
              </a:ext>
            </a:extLst>
          </p:cNvPr>
          <p:cNvSpPr>
            <a:spLocks noGrp="1"/>
          </p:cNvSpPr>
          <p:nvPr>
            <p:ph type="title"/>
          </p:nvPr>
        </p:nvSpPr>
        <p:spPr>
          <a:xfrm>
            <a:off x="4364809" y="457199"/>
            <a:ext cx="7043617" cy="1098885"/>
          </a:xfrm>
        </p:spPr>
        <p:txBody>
          <a:bodyPr/>
          <a:lstStyle/>
          <a:p>
            <a:r>
              <a:rPr lang="en-US" dirty="0"/>
              <a:t>Solution strategy</a:t>
            </a:r>
          </a:p>
        </p:txBody>
      </p:sp>
      <p:sp>
        <p:nvSpPr>
          <p:cNvPr id="3" name="Slide Number Placeholder 2">
            <a:extLst>
              <a:ext uri="{FF2B5EF4-FFF2-40B4-BE49-F238E27FC236}">
                <a16:creationId xmlns:a16="http://schemas.microsoft.com/office/drawing/2014/main" id="{370AEC4F-E711-8552-9C34-82C1514A1E37}"/>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6</a:t>
            </a:fld>
            <a:endParaRPr lang="en-US" dirty="0"/>
          </a:p>
        </p:txBody>
      </p:sp>
      <p:sp>
        <p:nvSpPr>
          <p:cNvPr id="4" name="Content Placeholder 3">
            <a:extLst>
              <a:ext uri="{FF2B5EF4-FFF2-40B4-BE49-F238E27FC236}">
                <a16:creationId xmlns:a16="http://schemas.microsoft.com/office/drawing/2014/main" id="{BDDD6BDC-E008-6AB7-55A1-46ED9BCF054F}"/>
              </a:ext>
            </a:extLst>
          </p:cNvPr>
          <p:cNvSpPr>
            <a:spLocks noGrp="1"/>
          </p:cNvSpPr>
          <p:nvPr>
            <p:ph idx="11"/>
          </p:nvPr>
        </p:nvSpPr>
        <p:spPr>
          <a:xfrm>
            <a:off x="4364808" y="2294022"/>
            <a:ext cx="7043618" cy="3747962"/>
          </a:xfrm>
        </p:spPr>
        <p:txBody>
          <a:bodyPr>
            <a:normAutofit/>
          </a:bodyPr>
          <a:lstStyle/>
          <a:p>
            <a:r>
              <a:rPr lang="en-US" sz="2800" dirty="0"/>
              <a:t>Develop a centralized matching platform. Use rule-based + intelligent filtering engine. Allow researchers to define criteria in structured format (JSON)Implement Privacy Shield (anonymized patient data)Notify patients about relevant trials automatically Enable multi-hospital integration. Support partial matching for incomplete data</a:t>
            </a:r>
          </a:p>
        </p:txBody>
      </p:sp>
    </p:spTree>
    <p:extLst>
      <p:ext uri="{BB962C8B-B14F-4D97-AF65-F5344CB8AC3E}">
        <p14:creationId xmlns:p14="http://schemas.microsoft.com/office/powerpoint/2010/main" val="11317180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A34A6-22BC-27A4-2C79-EE98A4943B14}"/>
              </a:ext>
            </a:extLst>
          </p:cNvPr>
          <p:cNvSpPr>
            <a:spLocks noGrp="1"/>
          </p:cNvSpPr>
          <p:nvPr>
            <p:ph type="title"/>
          </p:nvPr>
        </p:nvSpPr>
        <p:spPr>
          <a:xfrm>
            <a:off x="914399" y="457200"/>
            <a:ext cx="7796464" cy="617622"/>
          </a:xfrm>
        </p:spPr>
        <p:txBody>
          <a:bodyPr/>
          <a:lstStyle/>
          <a:p>
            <a:r>
              <a:rPr lang="en-US" dirty="0"/>
              <a:t>System architecture</a:t>
            </a:r>
          </a:p>
        </p:txBody>
      </p:sp>
      <p:sp>
        <p:nvSpPr>
          <p:cNvPr id="3" name="Slide Number Placeholder 2">
            <a:extLst>
              <a:ext uri="{FF2B5EF4-FFF2-40B4-BE49-F238E27FC236}">
                <a16:creationId xmlns:a16="http://schemas.microsoft.com/office/drawing/2014/main" id="{7267C004-8B72-C872-98FB-00A2A584D055}"/>
              </a:ext>
            </a:extLst>
          </p:cNvPr>
          <p:cNvSpPr>
            <a:spLocks noGrp="1"/>
          </p:cNvSpPr>
          <p:nvPr>
            <p:ph type="sldNum" sz="quarter" idx="10"/>
          </p:nvPr>
        </p:nvSpPr>
        <p:spPr>
          <a:xfrm>
            <a:off x="10438475" y="473241"/>
            <a:ext cx="987552" cy="471489"/>
          </a:xfrm>
        </p:spPr>
        <p:txBody>
          <a:bodyPr/>
          <a:lstStyle/>
          <a:p>
            <a:fld id="{48F63A3B-78C7-47BE-AE5E-E10140E04643}" type="slidenum">
              <a:rPr lang="en-US" smtClean="0"/>
              <a:pPr/>
              <a:t>7</a:t>
            </a:fld>
            <a:endParaRPr lang="en-US" dirty="0"/>
          </a:p>
        </p:txBody>
      </p:sp>
      <p:sp>
        <p:nvSpPr>
          <p:cNvPr id="16" name="Content Placeholder 4">
            <a:extLst>
              <a:ext uri="{FF2B5EF4-FFF2-40B4-BE49-F238E27FC236}">
                <a16:creationId xmlns:a16="http://schemas.microsoft.com/office/drawing/2014/main" id="{AEF9954A-E263-8A7E-58B1-4D03F7D1BD9B}"/>
              </a:ext>
            </a:extLst>
          </p:cNvPr>
          <p:cNvSpPr>
            <a:spLocks noGrp="1"/>
          </p:cNvSpPr>
          <p:nvPr>
            <p:ph sz="half" idx="2"/>
          </p:nvPr>
        </p:nvSpPr>
        <p:spPr>
          <a:xfrm>
            <a:off x="513347" y="1604211"/>
            <a:ext cx="8106077" cy="4796589"/>
          </a:xfrm>
        </p:spPr>
        <p:txBody>
          <a:bodyPr>
            <a:normAutofit lnSpcReduction="10000"/>
          </a:bodyPr>
          <a:lstStyle/>
          <a:p>
            <a:r>
              <a:rPr lang="en-US" sz="2400" b="1" dirty="0"/>
              <a:t>Components:</a:t>
            </a:r>
          </a:p>
          <a:p>
            <a:r>
              <a:rPr lang="en-US" sz="2400" dirty="0"/>
              <a:t>🧑‍⚕️ Patient Portal (profile + medical history)</a:t>
            </a:r>
          </a:p>
          <a:p>
            <a:r>
              <a:rPr lang="en-US" sz="2400" dirty="0"/>
              <a:t>🔬 Researcher Portal (trial creation + criteria)</a:t>
            </a:r>
          </a:p>
          <a:p>
            <a:r>
              <a:rPr lang="en-US" sz="2400" dirty="0"/>
              <a:t>⚙️ Matching Engine (core logic)</a:t>
            </a:r>
          </a:p>
          <a:p>
            <a:r>
              <a:rPr lang="en-US" sz="2400" dirty="0"/>
              <a:t>🔐 Privacy Layer (data anonymization)</a:t>
            </a:r>
          </a:p>
          <a:p>
            <a:r>
              <a:rPr lang="en-US" sz="2400" dirty="0"/>
              <a:t>📩 Notification Service</a:t>
            </a:r>
          </a:p>
          <a:p>
            <a:r>
              <a:rPr lang="en-US" sz="2400" dirty="0"/>
              <a:t>🗄️ Database (patients, trials, logs)</a:t>
            </a:r>
          </a:p>
          <a:p>
            <a:r>
              <a:rPr lang="en-US" sz="2400" dirty="0"/>
              <a:t>🌐 Integration Layer (external registries)Architecture</a:t>
            </a:r>
          </a:p>
          <a:p>
            <a:r>
              <a:rPr lang="en-US" sz="2400" b="1" dirty="0"/>
              <a:t>Style:</a:t>
            </a:r>
          </a:p>
          <a:p>
            <a:r>
              <a:rPr lang="en-US" sz="2400" dirty="0"/>
              <a:t>Microservices-based (scalable &amp; modular)API-driven communication</a:t>
            </a:r>
          </a:p>
        </p:txBody>
      </p:sp>
      <p:sp>
        <p:nvSpPr>
          <p:cNvPr id="17" name="Content Placeholder 6">
            <a:extLst>
              <a:ext uri="{FF2B5EF4-FFF2-40B4-BE49-F238E27FC236}">
                <a16:creationId xmlns:a16="http://schemas.microsoft.com/office/drawing/2014/main" id="{33680A80-5C61-DD02-1119-0565C0AD5372}"/>
              </a:ext>
            </a:extLst>
          </p:cNvPr>
          <p:cNvSpPr>
            <a:spLocks noGrp="1"/>
          </p:cNvSpPr>
          <p:nvPr>
            <p:ph sz="quarter" idx="4"/>
          </p:nvPr>
        </p:nvSpPr>
        <p:spPr>
          <a:xfrm flipH="1">
            <a:off x="8665143" y="2303028"/>
            <a:ext cx="45719" cy="3720337"/>
          </a:xfrm>
        </p:spPr>
        <p:txBody>
          <a:bodyPr>
            <a:normAutofit/>
          </a:bodyPr>
          <a:lstStyle/>
          <a:p>
            <a:r>
              <a:rPr lang="en-US" dirty="0"/>
              <a:t>  </a:t>
            </a:r>
          </a:p>
          <a:p>
            <a:endParaRPr lang="en-US" dirty="0"/>
          </a:p>
        </p:txBody>
      </p:sp>
    </p:spTree>
    <p:extLst>
      <p:ext uri="{BB962C8B-B14F-4D97-AF65-F5344CB8AC3E}">
        <p14:creationId xmlns:p14="http://schemas.microsoft.com/office/powerpoint/2010/main" val="24685957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D55F2D4-C20E-BEBC-1CCF-4449B0456A7E}"/>
              </a:ext>
            </a:extLst>
          </p:cNvPr>
          <p:cNvSpPr>
            <a:spLocks noGrp="1"/>
          </p:cNvSpPr>
          <p:nvPr>
            <p:ph type="title"/>
          </p:nvPr>
        </p:nvSpPr>
        <p:spPr>
          <a:xfrm>
            <a:off x="914400" y="625643"/>
            <a:ext cx="7631709" cy="753978"/>
          </a:xfrm>
        </p:spPr>
        <p:txBody>
          <a:bodyPr/>
          <a:lstStyle/>
          <a:p>
            <a:r>
              <a:rPr lang="en-US" dirty="0"/>
              <a:t>Data flow/ workflow</a:t>
            </a:r>
          </a:p>
        </p:txBody>
      </p:sp>
      <p:sp>
        <p:nvSpPr>
          <p:cNvPr id="14" name="Content Placeholder 7">
            <a:extLst>
              <a:ext uri="{FF2B5EF4-FFF2-40B4-BE49-F238E27FC236}">
                <a16:creationId xmlns:a16="http://schemas.microsoft.com/office/drawing/2014/main" id="{749C7CD1-A9AA-49E3-6734-AD9546F2DF5B}"/>
              </a:ext>
            </a:extLst>
          </p:cNvPr>
          <p:cNvSpPr>
            <a:spLocks noGrp="1"/>
          </p:cNvSpPr>
          <p:nvPr>
            <p:ph sz="half" idx="15"/>
          </p:nvPr>
        </p:nvSpPr>
        <p:spPr>
          <a:xfrm flipH="1">
            <a:off x="176462" y="2303463"/>
            <a:ext cx="176463" cy="4143375"/>
          </a:xfrm>
        </p:spPr>
        <p:txBody>
          <a:bodyPr>
            <a:normAutofit/>
          </a:bodyPr>
          <a:lstStyle/>
          <a:p>
            <a:pPr marL="0" indent="0">
              <a:buNone/>
            </a:pPr>
            <a:r>
              <a:rPr lang="en-US" dirty="0"/>
              <a:t>  </a:t>
            </a:r>
          </a:p>
        </p:txBody>
      </p:sp>
      <p:sp>
        <p:nvSpPr>
          <p:cNvPr id="13" name="Content Placeholder 5">
            <a:extLst>
              <a:ext uri="{FF2B5EF4-FFF2-40B4-BE49-F238E27FC236}">
                <a16:creationId xmlns:a16="http://schemas.microsoft.com/office/drawing/2014/main" id="{58AC0C8B-8A7A-9FAE-2D0F-4D1C3A8C3FA5}"/>
              </a:ext>
            </a:extLst>
          </p:cNvPr>
          <p:cNvSpPr>
            <a:spLocks noGrp="1"/>
          </p:cNvSpPr>
          <p:nvPr>
            <p:ph sz="half" idx="1"/>
          </p:nvPr>
        </p:nvSpPr>
        <p:spPr>
          <a:xfrm>
            <a:off x="913804" y="1780675"/>
            <a:ext cx="8326449" cy="4666164"/>
          </a:xfrm>
        </p:spPr>
        <p:txBody>
          <a:bodyPr>
            <a:normAutofit/>
          </a:bodyPr>
          <a:lstStyle/>
          <a:p>
            <a:r>
              <a:rPr lang="en-US" sz="3200" dirty="0"/>
              <a:t>Patient registers and uploads medical data. Researcher creates trial with eligibility criteria. Matching engine processes patient data vs criteria. Eligible patients identified (fully or partially). Data anonymized before sharing with researchers. Patients receive notifications. Patient gives consent → full data shared Recruitment tracked in dashboard</a:t>
            </a:r>
          </a:p>
        </p:txBody>
      </p:sp>
      <p:sp>
        <p:nvSpPr>
          <p:cNvPr id="4" name="Slide Number Placeholder 3">
            <a:extLst>
              <a:ext uri="{FF2B5EF4-FFF2-40B4-BE49-F238E27FC236}">
                <a16:creationId xmlns:a16="http://schemas.microsoft.com/office/drawing/2014/main" id="{C82CE1B8-1C92-D6D2-444B-652DB90E86D1}"/>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8</a:t>
            </a:fld>
            <a:endParaRPr lang="en-US" dirty="0"/>
          </a:p>
        </p:txBody>
      </p:sp>
    </p:spTree>
    <p:extLst>
      <p:ext uri="{BB962C8B-B14F-4D97-AF65-F5344CB8AC3E}">
        <p14:creationId xmlns:p14="http://schemas.microsoft.com/office/powerpoint/2010/main" val="19416196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443EC8A-1733-CCF7-081F-EB4667CB3285}"/>
              </a:ext>
            </a:extLst>
          </p:cNvPr>
          <p:cNvSpPr>
            <a:spLocks noGrp="1"/>
          </p:cNvSpPr>
          <p:nvPr>
            <p:ph type="title"/>
          </p:nvPr>
        </p:nvSpPr>
        <p:spPr>
          <a:xfrm>
            <a:off x="914400" y="0"/>
            <a:ext cx="7843837" cy="1219200"/>
          </a:xfrm>
        </p:spPr>
        <p:txBody>
          <a:bodyPr/>
          <a:lstStyle/>
          <a:p>
            <a:r>
              <a:rPr lang="en-US" dirty="0"/>
              <a:t>Implementation and demo reference</a:t>
            </a:r>
          </a:p>
        </p:txBody>
      </p:sp>
      <p:sp>
        <p:nvSpPr>
          <p:cNvPr id="4" name="Content Placeholder 3">
            <a:extLst>
              <a:ext uri="{FF2B5EF4-FFF2-40B4-BE49-F238E27FC236}">
                <a16:creationId xmlns:a16="http://schemas.microsoft.com/office/drawing/2014/main" id="{ACE55D3D-AA24-CF53-6679-29B3C83F7646}"/>
              </a:ext>
            </a:extLst>
          </p:cNvPr>
          <p:cNvSpPr>
            <a:spLocks noGrp="1"/>
          </p:cNvSpPr>
          <p:nvPr>
            <p:ph idx="13"/>
          </p:nvPr>
        </p:nvSpPr>
        <p:spPr>
          <a:xfrm>
            <a:off x="914400" y="1219201"/>
            <a:ext cx="6903076" cy="4834408"/>
          </a:xfrm>
        </p:spPr>
        <p:txBody>
          <a:bodyPr/>
          <a:lstStyle/>
          <a:p>
            <a:r>
              <a:rPr lang="en-US" b="1" u="sng" dirty="0"/>
              <a:t>Tech Stack </a:t>
            </a:r>
            <a:r>
              <a:rPr lang="en-US" b="1" dirty="0"/>
              <a:t>: </a:t>
            </a:r>
          </a:p>
          <a:p>
            <a:r>
              <a:rPr lang="en-US" b="1" dirty="0"/>
              <a:t>Frontend</a:t>
            </a:r>
            <a:r>
              <a:rPr lang="en-US" dirty="0"/>
              <a:t>: React / Angular</a:t>
            </a:r>
          </a:p>
          <a:p>
            <a:r>
              <a:rPr lang="en-US" b="1" dirty="0"/>
              <a:t>Backend</a:t>
            </a:r>
            <a:r>
              <a:rPr lang="en-US" dirty="0"/>
              <a:t>: Node.js / Django</a:t>
            </a:r>
          </a:p>
          <a:p>
            <a:r>
              <a:rPr lang="en-US" b="1" dirty="0"/>
              <a:t>Database</a:t>
            </a:r>
            <a:r>
              <a:rPr lang="en-US" dirty="0"/>
              <a:t>: MongoDB / PostgreSQL Matching </a:t>
            </a:r>
          </a:p>
          <a:p>
            <a:r>
              <a:rPr lang="en-US" b="1" dirty="0"/>
              <a:t>Logic</a:t>
            </a:r>
            <a:r>
              <a:rPr lang="en-US" dirty="0"/>
              <a:t>: Rule-based filtering (hard exclusions)Weighted scoring (flexible criteria)APIs for integration with trial registries</a:t>
            </a:r>
          </a:p>
          <a:p>
            <a:r>
              <a:rPr lang="en-US" b="1" u="sng" dirty="0"/>
              <a:t>Demo</a:t>
            </a:r>
            <a:r>
              <a:rPr lang="en-US" b="1" dirty="0"/>
              <a:t>: </a:t>
            </a:r>
            <a:r>
              <a:rPr lang="en-US" dirty="0"/>
              <a:t>Show patient signup → matching → notification → consent flow</a:t>
            </a:r>
          </a:p>
        </p:txBody>
      </p:sp>
      <p:sp>
        <p:nvSpPr>
          <p:cNvPr id="2" name="Slide Number Placeholder 1">
            <a:extLst>
              <a:ext uri="{FF2B5EF4-FFF2-40B4-BE49-F238E27FC236}">
                <a16:creationId xmlns:a16="http://schemas.microsoft.com/office/drawing/2014/main" id="{AB69D854-FB65-0E93-CFE2-041F7C41DD24}"/>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9</a:t>
            </a:fld>
            <a:endParaRPr lang="en-US" dirty="0"/>
          </a:p>
        </p:txBody>
      </p:sp>
    </p:spTree>
    <p:extLst>
      <p:ext uri="{BB962C8B-B14F-4D97-AF65-F5344CB8AC3E}">
        <p14:creationId xmlns:p14="http://schemas.microsoft.com/office/powerpoint/2010/main" val="40721017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136FCF6-982C-CC37-9625-3EBFC7E7DD13}"/>
              </a:ext>
            </a:extLst>
          </p:cNvPr>
          <p:cNvSpPr>
            <a:spLocks noGrp="1"/>
          </p:cNvSpPr>
          <p:nvPr>
            <p:ph type="title"/>
          </p:nvPr>
        </p:nvSpPr>
        <p:spPr>
          <a:xfrm>
            <a:off x="1550563" y="116959"/>
            <a:ext cx="9879437" cy="811729"/>
          </a:xfrm>
        </p:spPr>
        <p:txBody>
          <a:bodyPr/>
          <a:lstStyle/>
          <a:p>
            <a:r>
              <a:rPr lang="en-US" dirty="0"/>
              <a:t>Impacts and benefits</a:t>
            </a:r>
          </a:p>
        </p:txBody>
      </p:sp>
      <p:sp>
        <p:nvSpPr>
          <p:cNvPr id="4" name="Text Placeholder 3">
            <a:extLst>
              <a:ext uri="{FF2B5EF4-FFF2-40B4-BE49-F238E27FC236}">
                <a16:creationId xmlns:a16="http://schemas.microsoft.com/office/drawing/2014/main" id="{97DCC342-9FD1-7055-EAAC-008DC851B13F}"/>
              </a:ext>
            </a:extLst>
          </p:cNvPr>
          <p:cNvSpPr>
            <a:spLocks noGrp="1"/>
          </p:cNvSpPr>
          <p:nvPr>
            <p:ph type="body" sz="quarter" idx="13"/>
          </p:nvPr>
        </p:nvSpPr>
        <p:spPr>
          <a:xfrm flipH="1">
            <a:off x="1155032" y="1407153"/>
            <a:ext cx="9551954" cy="4629071"/>
          </a:xfrm>
        </p:spPr>
        <p:txBody>
          <a:bodyPr/>
          <a:lstStyle/>
          <a:p>
            <a:r>
              <a:rPr lang="en-US" sz="2800" dirty="0"/>
              <a:t>🚀 Faster clinical trial recruitment</a:t>
            </a:r>
          </a:p>
          <a:p>
            <a:r>
              <a:rPr lang="en-US" sz="2800" dirty="0"/>
              <a:t>🎯 Improved matching accuracy</a:t>
            </a:r>
          </a:p>
          <a:p>
            <a:r>
              <a:rPr lang="en-US" sz="2800" dirty="0"/>
              <a:t>🔐 Enhanced patient privacy</a:t>
            </a:r>
          </a:p>
          <a:p>
            <a:r>
              <a:rPr lang="en-US" sz="2800" dirty="0"/>
              <a:t>📊 Better decision-making for researchers</a:t>
            </a:r>
          </a:p>
          <a:p>
            <a:r>
              <a:rPr lang="en-US" sz="2800" dirty="0"/>
              <a:t>🌍 Increased accessibility to trials</a:t>
            </a:r>
          </a:p>
          <a:p>
            <a:r>
              <a:rPr lang="en-US" sz="2800" dirty="0"/>
              <a:t>💊 Accelerates drug development lifecycle</a:t>
            </a:r>
            <a:endParaRPr lang="en-US" dirty="0"/>
          </a:p>
        </p:txBody>
      </p:sp>
      <p:graphicFrame>
        <p:nvGraphicFramePr>
          <p:cNvPr id="6" name="Content Placeholder 5">
            <a:extLst>
              <a:ext uri="{FF2B5EF4-FFF2-40B4-BE49-F238E27FC236}">
                <a16:creationId xmlns:a16="http://schemas.microsoft.com/office/drawing/2014/main" id="{4DB3991E-0605-C20E-53AD-D64E13638DA5}"/>
              </a:ext>
            </a:extLst>
          </p:cNvPr>
          <p:cNvGraphicFramePr>
            <a:graphicFrameLocks noGrp="1"/>
          </p:cNvGraphicFramePr>
          <p:nvPr>
            <p:ph sz="half" idx="1"/>
            <p:extLst>
              <p:ext uri="{D42A27DB-BD31-4B8C-83A1-F6EECF244321}">
                <p14:modId xmlns:p14="http://schemas.microsoft.com/office/powerpoint/2010/main" val="3830243612"/>
              </p:ext>
            </p:extLst>
          </p:nvPr>
        </p:nvGraphicFramePr>
        <p:xfrm>
          <a:off x="11358881" y="-361506"/>
          <a:ext cx="833120" cy="7219508"/>
        </p:xfrm>
        <a:graphic>
          <a:graphicData uri="http://schemas.openxmlformats.org/drawingml/2006/table">
            <a:tbl>
              <a:tblPr firstRow="1" bandRow="1">
                <a:tableStyleId>{3B4B98B0-60AC-42C2-AFA5-B58CD77FA1E5}</a:tableStyleId>
              </a:tblPr>
              <a:tblGrid>
                <a:gridCol w="208280">
                  <a:extLst>
                    <a:ext uri="{9D8B030D-6E8A-4147-A177-3AD203B41FA5}">
                      <a16:colId xmlns:a16="http://schemas.microsoft.com/office/drawing/2014/main" val="180956085"/>
                    </a:ext>
                  </a:extLst>
                </a:gridCol>
                <a:gridCol w="208280">
                  <a:extLst>
                    <a:ext uri="{9D8B030D-6E8A-4147-A177-3AD203B41FA5}">
                      <a16:colId xmlns:a16="http://schemas.microsoft.com/office/drawing/2014/main" val="1180706872"/>
                    </a:ext>
                  </a:extLst>
                </a:gridCol>
                <a:gridCol w="208280">
                  <a:extLst>
                    <a:ext uri="{9D8B030D-6E8A-4147-A177-3AD203B41FA5}">
                      <a16:colId xmlns:a16="http://schemas.microsoft.com/office/drawing/2014/main" val="2050154702"/>
                    </a:ext>
                  </a:extLst>
                </a:gridCol>
                <a:gridCol w="208280">
                  <a:extLst>
                    <a:ext uri="{9D8B030D-6E8A-4147-A177-3AD203B41FA5}">
                      <a16:colId xmlns:a16="http://schemas.microsoft.com/office/drawing/2014/main" val="1872764148"/>
                    </a:ext>
                  </a:extLst>
                </a:gridCol>
              </a:tblGrid>
              <a:tr h="1128033">
                <a:tc>
                  <a:txBody>
                    <a:bodyPr/>
                    <a:lstStyle/>
                    <a:p>
                      <a:endParaRPr lang="en-US" dirty="0">
                        <a:solidFill>
                          <a:schemeClr val="accent6"/>
                        </a:solidFill>
                      </a:endParaRPr>
                    </a:p>
                  </a:txBody>
                  <a:tcPr anchor="ctr"/>
                </a:tc>
                <a:tc>
                  <a:txBody>
                    <a:bodyPr/>
                    <a:lstStyle/>
                    <a:p>
                      <a:endParaRPr lang="en-US" dirty="0">
                        <a:solidFill>
                          <a:schemeClr val="accent6"/>
                        </a:solidFill>
                      </a:endParaRPr>
                    </a:p>
                  </a:txBody>
                  <a:tcPr anchor="ctr"/>
                </a:tc>
                <a:tc>
                  <a:txBody>
                    <a:bodyPr/>
                    <a:lstStyle/>
                    <a:p>
                      <a:endParaRPr lang="en-US" dirty="0">
                        <a:solidFill>
                          <a:schemeClr val="accent6"/>
                        </a:solidFill>
                      </a:endParaRPr>
                    </a:p>
                  </a:txBody>
                  <a:tcPr anchor="ctr"/>
                </a:tc>
                <a:tc>
                  <a:txBody>
                    <a:bodyPr/>
                    <a:lstStyle/>
                    <a:p>
                      <a:endParaRPr lang="en-US" dirty="0">
                        <a:solidFill>
                          <a:schemeClr val="accent6"/>
                        </a:solidFill>
                      </a:endParaRPr>
                    </a:p>
                  </a:txBody>
                  <a:tcPr anchor="ctr"/>
                </a:tc>
                <a:extLst>
                  <a:ext uri="{0D108BD9-81ED-4DB2-BD59-A6C34878D82A}">
                    <a16:rowId xmlns:a16="http://schemas.microsoft.com/office/drawing/2014/main" val="3059142786"/>
                  </a:ext>
                </a:extLst>
              </a:tr>
              <a:tr h="1128033">
                <a:tc>
                  <a:txBody>
                    <a:bodyPr/>
                    <a:lstStyle/>
                    <a:p>
                      <a:endParaRPr lang="en-US" dirty="0">
                        <a:solidFill>
                          <a:schemeClr val="accent6"/>
                        </a:solidFill>
                      </a:endParaRPr>
                    </a:p>
                  </a:txBody>
                  <a:tcPr anchor="ctr"/>
                </a:tc>
                <a:tc>
                  <a:txBody>
                    <a:bodyPr/>
                    <a:lstStyle/>
                    <a:p>
                      <a:endParaRPr lang="en-US" dirty="0">
                        <a:solidFill>
                          <a:schemeClr val="accent6"/>
                        </a:solidFill>
                      </a:endParaRPr>
                    </a:p>
                  </a:txBody>
                  <a:tcPr anchor="ctr"/>
                </a:tc>
                <a:tc>
                  <a:txBody>
                    <a:bodyPr/>
                    <a:lstStyle/>
                    <a:p>
                      <a:endParaRPr lang="en-US" dirty="0">
                        <a:solidFill>
                          <a:schemeClr val="accent6"/>
                        </a:solidFill>
                      </a:endParaRPr>
                    </a:p>
                  </a:txBody>
                  <a:tcPr anchor="ctr"/>
                </a:tc>
                <a:tc>
                  <a:txBody>
                    <a:bodyPr/>
                    <a:lstStyle/>
                    <a:p>
                      <a:endParaRPr lang="en-US" dirty="0">
                        <a:solidFill>
                          <a:schemeClr val="accent6"/>
                        </a:solidFill>
                      </a:endParaRPr>
                    </a:p>
                  </a:txBody>
                  <a:tcPr anchor="ctr"/>
                </a:tc>
                <a:extLst>
                  <a:ext uri="{0D108BD9-81ED-4DB2-BD59-A6C34878D82A}">
                    <a16:rowId xmlns:a16="http://schemas.microsoft.com/office/drawing/2014/main" val="3588576737"/>
                  </a:ext>
                </a:extLst>
              </a:tr>
              <a:tr h="1197577">
                <a:tc>
                  <a:txBody>
                    <a:bodyPr/>
                    <a:lstStyle/>
                    <a:p>
                      <a:endParaRPr lang="en-US" dirty="0">
                        <a:solidFill>
                          <a:schemeClr val="accent6"/>
                        </a:solidFill>
                      </a:endParaRPr>
                    </a:p>
                  </a:txBody>
                  <a:tcPr anchor="ctr"/>
                </a:tc>
                <a:tc>
                  <a:txBody>
                    <a:bodyPr/>
                    <a:lstStyle/>
                    <a:p>
                      <a:endParaRPr lang="en-US" dirty="0">
                        <a:solidFill>
                          <a:schemeClr val="accent6"/>
                        </a:solidFill>
                      </a:endParaRPr>
                    </a:p>
                  </a:txBody>
                  <a:tcPr anchor="ctr"/>
                </a:tc>
                <a:tc>
                  <a:txBody>
                    <a:bodyPr/>
                    <a:lstStyle/>
                    <a:p>
                      <a:endParaRPr lang="en-US" dirty="0">
                        <a:solidFill>
                          <a:schemeClr val="accent6"/>
                        </a:solidFill>
                      </a:endParaRPr>
                    </a:p>
                  </a:txBody>
                  <a:tcPr anchor="ctr"/>
                </a:tc>
                <a:tc>
                  <a:txBody>
                    <a:bodyPr/>
                    <a:lstStyle/>
                    <a:p>
                      <a:endParaRPr lang="en-US" dirty="0">
                        <a:solidFill>
                          <a:schemeClr val="accent6"/>
                        </a:solidFill>
                      </a:endParaRPr>
                    </a:p>
                  </a:txBody>
                  <a:tcPr anchor="ctr"/>
                </a:tc>
                <a:extLst>
                  <a:ext uri="{0D108BD9-81ED-4DB2-BD59-A6C34878D82A}">
                    <a16:rowId xmlns:a16="http://schemas.microsoft.com/office/drawing/2014/main" val="1626410507"/>
                  </a:ext>
                </a:extLst>
              </a:tr>
              <a:tr h="1128033">
                <a:tc>
                  <a:txBody>
                    <a:bodyPr/>
                    <a:lstStyle/>
                    <a:p>
                      <a:endParaRPr lang="en-US" dirty="0">
                        <a:solidFill>
                          <a:schemeClr val="accent6"/>
                        </a:solidFill>
                      </a:endParaRPr>
                    </a:p>
                  </a:txBody>
                  <a:tcPr anchor="ctr"/>
                </a:tc>
                <a:tc>
                  <a:txBody>
                    <a:bodyPr/>
                    <a:lstStyle/>
                    <a:p>
                      <a:endParaRPr lang="en-US" dirty="0">
                        <a:solidFill>
                          <a:schemeClr val="accent6"/>
                        </a:solidFill>
                      </a:endParaRPr>
                    </a:p>
                  </a:txBody>
                  <a:tcPr anchor="ctr"/>
                </a:tc>
                <a:tc>
                  <a:txBody>
                    <a:bodyPr/>
                    <a:lstStyle/>
                    <a:p>
                      <a:endParaRPr lang="en-US" dirty="0">
                        <a:solidFill>
                          <a:schemeClr val="accent6"/>
                        </a:solidFill>
                      </a:endParaRPr>
                    </a:p>
                  </a:txBody>
                  <a:tcPr anchor="ctr"/>
                </a:tc>
                <a:tc>
                  <a:txBody>
                    <a:bodyPr/>
                    <a:lstStyle/>
                    <a:p>
                      <a:endParaRPr lang="en-US" dirty="0">
                        <a:solidFill>
                          <a:schemeClr val="accent6"/>
                        </a:solidFill>
                      </a:endParaRPr>
                    </a:p>
                  </a:txBody>
                  <a:tcPr anchor="ctr"/>
                </a:tc>
                <a:extLst>
                  <a:ext uri="{0D108BD9-81ED-4DB2-BD59-A6C34878D82A}">
                    <a16:rowId xmlns:a16="http://schemas.microsoft.com/office/drawing/2014/main" val="1888116840"/>
                  </a:ext>
                </a:extLst>
              </a:tr>
              <a:tr h="1128033">
                <a:tc>
                  <a:txBody>
                    <a:bodyPr/>
                    <a:lstStyle/>
                    <a:p>
                      <a:endParaRPr lang="en-US" dirty="0">
                        <a:solidFill>
                          <a:schemeClr val="accent6"/>
                        </a:solidFill>
                      </a:endParaRPr>
                    </a:p>
                  </a:txBody>
                  <a:tcPr anchor="ctr"/>
                </a:tc>
                <a:tc>
                  <a:txBody>
                    <a:bodyPr/>
                    <a:lstStyle/>
                    <a:p>
                      <a:endParaRPr lang="en-US" dirty="0">
                        <a:solidFill>
                          <a:schemeClr val="accent6"/>
                        </a:solidFill>
                      </a:endParaRPr>
                    </a:p>
                  </a:txBody>
                  <a:tcPr anchor="ctr"/>
                </a:tc>
                <a:tc>
                  <a:txBody>
                    <a:bodyPr/>
                    <a:lstStyle/>
                    <a:p>
                      <a:endParaRPr lang="en-US" dirty="0">
                        <a:solidFill>
                          <a:schemeClr val="accent6"/>
                        </a:solidFill>
                      </a:endParaRPr>
                    </a:p>
                  </a:txBody>
                  <a:tcPr anchor="ctr"/>
                </a:tc>
                <a:tc>
                  <a:txBody>
                    <a:bodyPr/>
                    <a:lstStyle/>
                    <a:p>
                      <a:endParaRPr lang="en-US" dirty="0">
                        <a:solidFill>
                          <a:schemeClr val="accent6"/>
                        </a:solidFill>
                      </a:endParaRPr>
                    </a:p>
                  </a:txBody>
                  <a:tcPr anchor="ctr"/>
                </a:tc>
                <a:extLst>
                  <a:ext uri="{0D108BD9-81ED-4DB2-BD59-A6C34878D82A}">
                    <a16:rowId xmlns:a16="http://schemas.microsoft.com/office/drawing/2014/main" val="4023592559"/>
                  </a:ext>
                </a:extLst>
              </a:tr>
              <a:tr h="1509799">
                <a:tc>
                  <a:txBody>
                    <a:bodyPr/>
                    <a:lstStyle/>
                    <a:p>
                      <a:endParaRPr lang="en-US" dirty="0">
                        <a:solidFill>
                          <a:schemeClr val="accent6"/>
                        </a:solidFill>
                      </a:endParaRPr>
                    </a:p>
                  </a:txBody>
                  <a:tcPr anchor="ctr"/>
                </a:tc>
                <a:tc>
                  <a:txBody>
                    <a:bodyPr/>
                    <a:lstStyle/>
                    <a:p>
                      <a:endParaRPr lang="en-US" dirty="0">
                        <a:solidFill>
                          <a:schemeClr val="accent6"/>
                        </a:solidFill>
                      </a:endParaRPr>
                    </a:p>
                  </a:txBody>
                  <a:tcPr anchor="ctr"/>
                </a:tc>
                <a:tc>
                  <a:txBody>
                    <a:bodyPr/>
                    <a:lstStyle/>
                    <a:p>
                      <a:endParaRPr lang="en-US" dirty="0">
                        <a:solidFill>
                          <a:schemeClr val="accent6"/>
                        </a:solidFill>
                      </a:endParaRPr>
                    </a:p>
                  </a:txBody>
                  <a:tcPr anchor="ctr"/>
                </a:tc>
                <a:tc>
                  <a:txBody>
                    <a:bodyPr/>
                    <a:lstStyle/>
                    <a:p>
                      <a:endParaRPr lang="en-US" dirty="0">
                        <a:solidFill>
                          <a:schemeClr val="accent6"/>
                        </a:solidFill>
                      </a:endParaRPr>
                    </a:p>
                  </a:txBody>
                  <a:tcPr anchor="ctr"/>
                </a:tc>
                <a:extLst>
                  <a:ext uri="{0D108BD9-81ED-4DB2-BD59-A6C34878D82A}">
                    <a16:rowId xmlns:a16="http://schemas.microsoft.com/office/drawing/2014/main" val="2426564953"/>
                  </a:ext>
                </a:extLst>
              </a:tr>
            </a:tbl>
          </a:graphicData>
        </a:graphic>
      </p:graphicFrame>
      <p:sp>
        <p:nvSpPr>
          <p:cNvPr id="2" name="Slide Number Placeholder 1">
            <a:extLst>
              <a:ext uri="{FF2B5EF4-FFF2-40B4-BE49-F238E27FC236}">
                <a16:creationId xmlns:a16="http://schemas.microsoft.com/office/drawing/2014/main" id="{A913EEC9-16E3-6C86-97D0-A7EC7EA09CDA}"/>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10</a:t>
            </a:fld>
            <a:endParaRPr lang="en-US" dirty="0"/>
          </a:p>
        </p:txBody>
      </p:sp>
    </p:spTree>
    <p:extLst>
      <p:ext uri="{BB962C8B-B14F-4D97-AF65-F5344CB8AC3E}">
        <p14:creationId xmlns:p14="http://schemas.microsoft.com/office/powerpoint/2010/main" val="39699961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8D62608-F5E4-7EC0-5EF0-4F988DDDEC5B}"/>
              </a:ext>
            </a:extLst>
          </p:cNvPr>
          <p:cNvSpPr>
            <a:spLocks noGrp="1"/>
          </p:cNvSpPr>
          <p:nvPr>
            <p:ph type="title"/>
          </p:nvPr>
        </p:nvSpPr>
        <p:spPr>
          <a:xfrm>
            <a:off x="2053389" y="593380"/>
            <a:ext cx="9372638" cy="786242"/>
          </a:xfrm>
        </p:spPr>
        <p:txBody>
          <a:bodyPr/>
          <a:lstStyle/>
          <a:p>
            <a:r>
              <a:rPr lang="en-US" dirty="0"/>
              <a:t>limitations</a:t>
            </a:r>
          </a:p>
        </p:txBody>
      </p:sp>
      <p:sp>
        <p:nvSpPr>
          <p:cNvPr id="12" name="Content Placeholder 3">
            <a:extLst>
              <a:ext uri="{FF2B5EF4-FFF2-40B4-BE49-F238E27FC236}">
                <a16:creationId xmlns:a16="http://schemas.microsoft.com/office/drawing/2014/main" id="{288BD9B8-D6A6-D55A-830D-4D3CC2DC3933}"/>
              </a:ext>
            </a:extLst>
          </p:cNvPr>
          <p:cNvSpPr>
            <a:spLocks noGrp="1"/>
          </p:cNvSpPr>
          <p:nvPr>
            <p:ph sz="half" idx="2"/>
          </p:nvPr>
        </p:nvSpPr>
        <p:spPr>
          <a:xfrm>
            <a:off x="-45718" y="2303028"/>
            <a:ext cx="45719" cy="3961593"/>
          </a:xfrm>
        </p:spPr>
        <p:txBody>
          <a:bodyPr>
            <a:normAutofit/>
          </a:bodyPr>
          <a:lstStyle/>
          <a:p>
            <a:pPr marL="0" indent="0">
              <a:buNone/>
            </a:pPr>
            <a:r>
              <a:rPr lang="en-US" dirty="0"/>
              <a:t>  </a:t>
            </a:r>
          </a:p>
        </p:txBody>
      </p:sp>
      <p:sp>
        <p:nvSpPr>
          <p:cNvPr id="13" name="Content Placeholder 7">
            <a:extLst>
              <a:ext uri="{FF2B5EF4-FFF2-40B4-BE49-F238E27FC236}">
                <a16:creationId xmlns:a16="http://schemas.microsoft.com/office/drawing/2014/main" id="{0853098E-C088-D323-4BF2-987893F262F6}"/>
              </a:ext>
            </a:extLst>
          </p:cNvPr>
          <p:cNvSpPr>
            <a:spLocks noGrp="1"/>
          </p:cNvSpPr>
          <p:nvPr>
            <p:ph sz="half" idx="15"/>
          </p:nvPr>
        </p:nvSpPr>
        <p:spPr>
          <a:xfrm>
            <a:off x="1521593" y="1700464"/>
            <a:ext cx="9904433" cy="4564158"/>
          </a:xfrm>
        </p:spPr>
        <p:txBody>
          <a:bodyPr>
            <a:normAutofit/>
          </a:bodyPr>
          <a:lstStyle/>
          <a:p>
            <a:pPr marL="0" indent="0">
              <a:buNone/>
            </a:pPr>
            <a:r>
              <a:rPr lang="en-US" sz="2800" dirty="0"/>
              <a:t>⚠️ Dependence on data quality</a:t>
            </a:r>
          </a:p>
          <a:p>
            <a:pPr marL="0" indent="0">
              <a:buNone/>
            </a:pPr>
            <a:r>
              <a:rPr lang="en-US" sz="2800" dirty="0"/>
              <a:t>⚠️ Integration challenges across hospitals</a:t>
            </a:r>
          </a:p>
          <a:p>
            <a:pPr marL="0" indent="0">
              <a:buNone/>
            </a:pPr>
            <a:r>
              <a:rPr lang="en-US" sz="2800" dirty="0"/>
              <a:t>⚠️ Complex rule definitions may need tuning</a:t>
            </a:r>
          </a:p>
          <a:p>
            <a:pPr marL="0" indent="0">
              <a:buNone/>
            </a:pPr>
            <a:r>
              <a:rPr lang="en-US" sz="2800" dirty="0"/>
              <a:t>⚠️ Regulatory compliance (HIPAA/GDPR-like concerns)</a:t>
            </a:r>
          </a:p>
          <a:p>
            <a:pPr marL="0" indent="0">
              <a:buNone/>
            </a:pPr>
            <a:r>
              <a:rPr lang="en-US" sz="2800" dirty="0"/>
              <a:t>⚠️ Initial adoption resistance</a:t>
            </a:r>
          </a:p>
        </p:txBody>
      </p:sp>
      <p:sp>
        <p:nvSpPr>
          <p:cNvPr id="2" name="Slide Number Placeholder 1">
            <a:extLst>
              <a:ext uri="{FF2B5EF4-FFF2-40B4-BE49-F238E27FC236}">
                <a16:creationId xmlns:a16="http://schemas.microsoft.com/office/drawing/2014/main" id="{1DCFAD14-1AAA-8CDA-A49B-523FD6C66F35}"/>
              </a:ext>
            </a:extLst>
          </p:cNvPr>
          <p:cNvSpPr>
            <a:spLocks noGrp="1"/>
          </p:cNvSpPr>
          <p:nvPr>
            <p:ph type="sldNum" sz="quarter" idx="10"/>
          </p:nvPr>
        </p:nvSpPr>
        <p:spPr>
          <a:xfrm>
            <a:off x="10438475" y="457199"/>
            <a:ext cx="987552" cy="471489"/>
          </a:xfrm>
        </p:spPr>
        <p:txBody>
          <a:bodyPr/>
          <a:lstStyle/>
          <a:p>
            <a:fld id="{48F63A3B-78C7-47BE-AE5E-E10140E04643}" type="slidenum">
              <a:rPr lang="en-US" smtClean="0"/>
              <a:pPr/>
              <a:t>11</a:t>
            </a:fld>
            <a:endParaRPr lang="en-US" dirty="0"/>
          </a:p>
        </p:txBody>
      </p:sp>
    </p:spTree>
    <p:extLst>
      <p:ext uri="{BB962C8B-B14F-4D97-AF65-F5344CB8AC3E}">
        <p14:creationId xmlns:p14="http://schemas.microsoft.com/office/powerpoint/2010/main" val="24980216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176463" y="385012"/>
            <a:ext cx="6452938" cy="1171072"/>
          </a:xfrm>
        </p:spPr>
        <p:txBody>
          <a:bodyPr/>
          <a:lstStyle/>
          <a:p>
            <a:r>
              <a:rPr lang="en-US" dirty="0"/>
              <a:t>Future scope and roadmap</a:t>
            </a:r>
          </a:p>
        </p:txBody>
      </p:sp>
      <p:sp>
        <p:nvSpPr>
          <p:cNvPr id="3" name="Subtitle 2">
            <a:extLst>
              <a:ext uri="{FF2B5EF4-FFF2-40B4-BE49-F238E27FC236}">
                <a16:creationId xmlns:a16="http://schemas.microsoft.com/office/drawing/2014/main" id="{D8B5CEF2-E667-BBB5-2EA6-C06F93B6DE12}"/>
              </a:ext>
            </a:extLst>
          </p:cNvPr>
          <p:cNvSpPr>
            <a:spLocks noGrp="1"/>
          </p:cNvSpPr>
          <p:nvPr>
            <p:ph type="subTitle" idx="1"/>
          </p:nvPr>
        </p:nvSpPr>
        <p:spPr>
          <a:xfrm>
            <a:off x="545432" y="2085474"/>
            <a:ext cx="7026442" cy="4387514"/>
          </a:xfrm>
        </p:spPr>
        <p:txBody>
          <a:bodyPr>
            <a:normAutofit/>
          </a:bodyPr>
          <a:lstStyle/>
          <a:p>
            <a:r>
              <a:rPr lang="en-US" sz="2800" dirty="0"/>
              <a:t>🤖 AI/ML-based predictive matching</a:t>
            </a:r>
          </a:p>
          <a:p>
            <a:r>
              <a:rPr lang="en-US" sz="2800" dirty="0"/>
              <a:t>🧬 Integration with genetic data systems</a:t>
            </a:r>
          </a:p>
          <a:p>
            <a:r>
              <a:rPr lang="en-US" sz="2800" dirty="0"/>
              <a:t>🌍 Global hospital network expansion</a:t>
            </a:r>
          </a:p>
          <a:p>
            <a:r>
              <a:rPr lang="en-US" sz="2800" dirty="0"/>
              <a:t>📱 Mobile app for patient engagement</a:t>
            </a:r>
          </a:p>
          <a:p>
            <a:r>
              <a:rPr lang="en-US" sz="2800" dirty="0"/>
              <a:t>🗣️ Multilingual support</a:t>
            </a:r>
          </a:p>
          <a:p>
            <a:r>
              <a:rPr lang="en-US" sz="2800" dirty="0"/>
              <a:t>📈 Advanced analytics dashboard</a:t>
            </a:r>
          </a:p>
          <a:p>
            <a:r>
              <a:rPr lang="en-US" sz="2800" dirty="0"/>
              <a:t>🔗 Real-time sync with global trial registries</a:t>
            </a:r>
          </a:p>
        </p:txBody>
      </p:sp>
    </p:spTree>
    <p:extLst>
      <p:ext uri="{BB962C8B-B14F-4D97-AF65-F5344CB8AC3E}">
        <p14:creationId xmlns:p14="http://schemas.microsoft.com/office/powerpoint/2010/main" val="1973173046"/>
      </p:ext>
    </p:extLst>
  </p:cSld>
  <p:clrMapOvr>
    <a:masterClrMapping/>
  </p:clrMapOvr>
</p:sld>
</file>

<file path=ppt/theme/theme1.xml><?xml version="1.0" encoding="utf-8"?>
<a:theme xmlns:a="http://schemas.openxmlformats.org/drawingml/2006/main" name="Custom">
  <a:themeElements>
    <a:clrScheme name="Custom 13">
      <a:dk1>
        <a:srgbClr val="000000"/>
      </a:dk1>
      <a:lt1>
        <a:srgbClr val="FDFAF6"/>
      </a:lt1>
      <a:dk2>
        <a:srgbClr val="44546A"/>
      </a:dk2>
      <a:lt2>
        <a:srgbClr val="E7E6E6"/>
      </a:lt2>
      <a:accent1>
        <a:srgbClr val="F5CDCE"/>
      </a:accent1>
      <a:accent2>
        <a:srgbClr val="DE8C8C"/>
      </a:accent2>
      <a:accent3>
        <a:srgbClr val="AAC3E8"/>
      </a:accent3>
      <a:accent4>
        <a:srgbClr val="D2D592"/>
      </a:accent4>
      <a:accent5>
        <a:srgbClr val="CCBE89"/>
      </a:accent5>
      <a:accent6>
        <a:srgbClr val="1F2C8F"/>
      </a:accent6>
      <a:hlink>
        <a:srgbClr val="1F2C8F"/>
      </a:hlink>
      <a:folHlink>
        <a:srgbClr val="AAC3E9"/>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A719FA4-954C-4FA8-82CB-206659C3B82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16DBB56F-4362-4386-A1A1-3DF898896616}">
  <ds:schemaRefs>
    <ds:schemaRef ds:uri="http://schemas.microsoft.com/sharepoint/v3/contenttype/forms"/>
  </ds:schemaRefs>
</ds:datastoreItem>
</file>

<file path=customXml/itemProps3.xml><?xml version="1.0" encoding="utf-8"?>
<ds:datastoreItem xmlns:ds="http://schemas.openxmlformats.org/officeDocument/2006/customXml" ds:itemID="{04948363-B267-4BAC-8655-100FBEC280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{6F712916-D15E-4C8A-9EB2-B1CAA7534C78}TF8a9b5915-b8c7-461e-8cdd-693d48b5e32371f7b7e2_win32-4bf0b9a2ea37</Template>
  <TotalTime>141</TotalTime>
  <Words>545</Words>
  <Application>Microsoft Office PowerPoint</Application>
  <PresentationFormat>Widescreen</PresentationFormat>
  <Paragraphs>79</Paragraphs>
  <Slides>12</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Arial Black</vt:lpstr>
      <vt:lpstr>Calibri</vt:lpstr>
      <vt:lpstr>Sabon Next LT</vt:lpstr>
      <vt:lpstr>Custom</vt:lpstr>
      <vt:lpstr>Clinical trial patient matching </vt:lpstr>
      <vt:lpstr>   </vt:lpstr>
      <vt:lpstr>Problem scenario</vt:lpstr>
      <vt:lpstr>Current pain points</vt:lpstr>
      <vt:lpstr>Objectives &amp;success</vt:lpstr>
      <vt:lpstr>Solution strategy</vt:lpstr>
      <vt:lpstr>System architecture</vt:lpstr>
      <vt:lpstr>Data flow/ workflow</vt:lpstr>
      <vt:lpstr>Implementation and demo reference</vt:lpstr>
      <vt:lpstr>Impacts and benefits</vt:lpstr>
      <vt:lpstr>limitations</vt:lpstr>
      <vt:lpstr>Future scope and roadmap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HASINI GUNDETI</dc:creator>
  <cp:lastModifiedBy>HASINI GUNDETI</cp:lastModifiedBy>
  <cp:revision>1</cp:revision>
  <dcterms:created xsi:type="dcterms:W3CDTF">2026-04-06T08:51:32Z</dcterms:created>
  <dcterms:modified xsi:type="dcterms:W3CDTF">2026-04-06T11:13:32Z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